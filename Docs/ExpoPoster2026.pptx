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21" r:id="rId4"/>
  </p:sldMasterIdLst>
  <p:notesMasterIdLst>
    <p:notesMasterId r:id="rId6"/>
  </p:notesMasterIdLst>
  <p:handoutMasterIdLst>
    <p:handoutMasterId r:id="rId7"/>
  </p:handoutMasterIdLst>
  <p:sldIdLst>
    <p:sldId id="269" r:id="rId5"/>
  </p:sldIdLst>
  <p:sldSz cx="36576000" cy="26517600"/>
  <p:notesSz cx="6858000" cy="9144000"/>
  <p:defaultTextStyle>
    <a:defPPr>
      <a:defRPr lang="ru-RU"/>
    </a:defPPr>
    <a:lvl1pPr marL="0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1pPr>
    <a:lvl2pPr marL="2047006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2pPr>
    <a:lvl3pPr marL="4094009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3pPr>
    <a:lvl4pPr marL="6141015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4pPr>
    <a:lvl5pPr marL="8188019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5pPr>
    <a:lvl6pPr marL="10235020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6pPr>
    <a:lvl7pPr marL="12282024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7pPr>
    <a:lvl8pPr marL="14329030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8pPr>
    <a:lvl9pPr marL="16376036" algn="l" defTabSz="4094009" rtl="0" eaLnBrk="1" latinLnBrk="0" hangingPunct="1">
      <a:defRPr sz="80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C934344E-928D-9747-A758-2D473ED4398A}">
          <p14:sldIdLst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71A"/>
    <a:srgbClr val="000000"/>
    <a:srgbClr val="FBC71B"/>
    <a:srgbClr val="E1E1E1"/>
    <a:srgbClr val="FFFFFF"/>
    <a:srgbClr val="649FFF"/>
    <a:srgbClr val="F2F2F2"/>
    <a:srgbClr val="FAFAFA"/>
    <a:srgbClr val="242529"/>
    <a:srgbClr val="D1D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16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stha, Safal (shre4420@vandals.uidaho.edu)" userId="18ac7307-1cc5-49db-91fd-cc86ad3a36bf" providerId="ADAL" clId="{52673049-237E-42FA-AC49-AAE26614D8D4}"/>
    <pc:docChg chg="modSld">
      <pc:chgData name="Shrestha, Safal (shre4420@vandals.uidaho.edu)" userId="18ac7307-1cc5-49db-91fd-cc86ad3a36bf" providerId="ADAL" clId="{52673049-237E-42FA-AC49-AAE26614D8D4}" dt="2026-05-01T07:06:51.093" v="0" actId="1076"/>
      <pc:docMkLst>
        <pc:docMk/>
      </pc:docMkLst>
      <pc:sldChg chg="modSp mod">
        <pc:chgData name="Shrestha, Safal (shre4420@vandals.uidaho.edu)" userId="18ac7307-1cc5-49db-91fd-cc86ad3a36bf" providerId="ADAL" clId="{52673049-237E-42FA-AC49-AAE26614D8D4}" dt="2026-05-01T07:06:51.093" v="0" actId="1076"/>
        <pc:sldMkLst>
          <pc:docMk/>
          <pc:sldMk cId="4187201983" sldId="269"/>
        </pc:sldMkLst>
        <pc:spChg chg="mod">
          <ac:chgData name="Shrestha, Safal (shre4420@vandals.uidaho.edu)" userId="18ac7307-1cc5-49db-91fd-cc86ad3a36bf" providerId="ADAL" clId="{52673049-237E-42FA-AC49-AAE26614D8D4}" dt="2026-05-01T07:06:51.093" v="0" actId="1076"/>
          <ac:spMkLst>
            <pc:docMk/>
            <pc:sldMk cId="4187201983" sldId="269"/>
            <ac:spMk id="16" creationId="{B59B1464-835A-2314-9A2C-B992D0DA34C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41B0E-0A9B-FB43-B29A-2C5A495EA0A7}" type="datetimeFigureOut">
              <a:rPr lang="ru-RU" smtClean="0">
                <a:latin typeface="Archivo Regular" charset="0"/>
              </a:rPr>
              <a:t>01.05.2026</a:t>
            </a:fld>
            <a:endParaRPr lang="ru-RU">
              <a:latin typeface="Archivo Regular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>
              <a:latin typeface="Archivo Regular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11949-EE69-F440-BF44-484174DCC2AF}" type="slidenum">
              <a:rPr lang="ru-RU" smtClean="0">
                <a:latin typeface="Archivo Regular" charset="0"/>
              </a:rPr>
              <a:t>‹#›</a:t>
            </a:fld>
            <a:endParaRPr lang="ru-RU">
              <a:latin typeface="Archivo Regular" charset="0"/>
            </a:endParaRPr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>
              <a:latin typeface="Archivo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427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E7E03F2D-4C40-8A47-B131-FA84CE0A3C0A}" type="datetimeFigureOut">
              <a:rPr lang="ru-RU" smtClean="0"/>
              <a:pPr/>
              <a:t>01.05.2026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065213" y="685800"/>
            <a:ext cx="47275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err="1"/>
              <a:t>Образец</a:t>
            </a:r>
            <a:r>
              <a:rPr lang="en-US"/>
              <a:t> </a:t>
            </a:r>
            <a:r>
              <a:rPr lang="en-US" err="1"/>
              <a:t>текста</a:t>
            </a:r>
            <a:endParaRPr lang="en-US"/>
          </a:p>
          <a:p>
            <a:pPr lvl="1"/>
            <a:r>
              <a:rPr lang="en-US" err="1"/>
              <a:t>Второй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en-US"/>
          </a:p>
          <a:p>
            <a:pPr lvl="2"/>
            <a:r>
              <a:rPr lang="en-US" err="1"/>
              <a:t>Третий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en-US"/>
          </a:p>
          <a:p>
            <a:pPr lvl="3"/>
            <a:r>
              <a:rPr lang="en-US" err="1"/>
              <a:t>Четвертый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en-US"/>
          </a:p>
          <a:p>
            <a:pPr lvl="4"/>
            <a:r>
              <a:rPr lang="en-US" err="1"/>
              <a:t>Пятый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013FC40D-6FB9-1648-B027-EAD4E7DC4F2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7415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1pPr>
    <a:lvl2pPr marL="2047006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2pPr>
    <a:lvl3pPr marL="4094009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3pPr>
    <a:lvl4pPr marL="6141015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4pPr>
    <a:lvl5pPr marL="8188019" algn="l" defTabSz="2047006" rtl="0" eaLnBrk="1" latinLnBrk="0" hangingPunct="1">
      <a:defRPr sz="5374" b="0" i="0" kern="1200">
        <a:solidFill>
          <a:schemeClr val="tx1"/>
        </a:solidFill>
        <a:latin typeface="Archivo Regular" charset="0"/>
        <a:ea typeface="+mn-ea"/>
        <a:cs typeface="+mn-cs"/>
      </a:defRPr>
    </a:lvl5pPr>
    <a:lvl6pPr marL="10235020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6pPr>
    <a:lvl7pPr marL="12282024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7pPr>
    <a:lvl8pPr marL="14329030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8pPr>
    <a:lvl9pPr marL="16376036" algn="l" defTabSz="2047006" rtl="0" eaLnBrk="1" latinLnBrk="0" hangingPunct="1">
      <a:defRPr sz="537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054558" y="7141016"/>
            <a:ext cx="23329968" cy="8032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220" b="1" cap="all" baseline="0"/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43200" y="8575906"/>
            <a:ext cx="8335108" cy="7124836"/>
          </a:xfrm>
        </p:spPr>
        <p:txBody>
          <a:bodyPr/>
          <a:lstStyle>
            <a:lvl1pPr marL="0" marR="0" indent="0" algn="l" defTabSz="2357164" rtl="0" eaLnBrk="1" fontAlgn="auto" latinLnBrk="0" hangingPunct="1">
              <a:lnSpc>
                <a:spcPts val="5124"/>
              </a:lnSpc>
              <a:spcBef>
                <a:spcPts val="0"/>
              </a:spcBef>
              <a:spcAft>
                <a:spcPts val="2417"/>
              </a:spcAft>
              <a:buClrTx/>
              <a:buSzTx/>
              <a:buFont typeface="Arial" panose="020B0604020202020204" pitchFamily="34" charset="0"/>
              <a:buNone/>
              <a:tabLst/>
              <a:defRPr lang="en-US" sz="3190" b="0" i="0" baseline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 </a:t>
            </a:r>
            <a:r>
              <a:rPr lang="en-US" err="1"/>
              <a:t>volorit</a:t>
            </a:r>
            <a:r>
              <a:rPr lang="en-US"/>
              <a:t> </a:t>
            </a:r>
            <a:r>
              <a:rPr lang="en-US" err="1"/>
              <a:t>iorem</a:t>
            </a:r>
            <a:r>
              <a:rPr lang="en-US"/>
              <a:t>. Bea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eatis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accus</a:t>
            </a:r>
            <a:r>
              <a:rPr lang="en-US"/>
              <a:t>, ne </a:t>
            </a:r>
            <a:r>
              <a:rPr lang="en-US" err="1"/>
              <a:t>molenda</a:t>
            </a:r>
            <a:r>
              <a:rPr lang="en-US"/>
              <a:t> </a:t>
            </a:r>
            <a:r>
              <a:rPr lang="en-US" err="1"/>
              <a:t>invelit</a:t>
            </a:r>
            <a:r>
              <a:rPr lang="en-US"/>
              <a:t> </a:t>
            </a:r>
            <a:r>
              <a:rPr lang="en-US" err="1"/>
              <a:t>iurepudae</a:t>
            </a:r>
            <a:r>
              <a:rPr lang="en-US"/>
              <a:t> </a:t>
            </a:r>
            <a:r>
              <a:rPr lang="en-US" err="1"/>
              <a:t>maximin</a:t>
            </a:r>
            <a:r>
              <a:rPr lang="en-US"/>
              <a:t> </a:t>
            </a:r>
            <a:r>
              <a:rPr lang="en-US" err="1"/>
              <a:t>imagnate</a:t>
            </a:r>
            <a:r>
              <a:rPr lang="en-US"/>
              <a:t> </a:t>
            </a:r>
            <a:r>
              <a:rPr lang="en-US" err="1"/>
              <a:t>officima</a:t>
            </a:r>
            <a:r>
              <a:rPr lang="en-US"/>
              <a:t> </a:t>
            </a:r>
            <a:r>
              <a:rPr lang="en-US" err="1"/>
              <a:t>corruptas</a:t>
            </a:r>
            <a:r>
              <a:rPr lang="en-US"/>
              <a:t> </a:t>
            </a:r>
            <a:r>
              <a:rPr lang="en-US" err="1"/>
              <a:t>simoditam</a:t>
            </a:r>
            <a:r>
              <a:rPr lang="en-US"/>
              <a:t> </a:t>
            </a:r>
            <a:r>
              <a:rPr lang="en-US" err="1"/>
              <a:t>repersp</a:t>
            </a:r>
            <a:r>
              <a:rPr lang="en-US"/>
              <a:t> </a:t>
            </a:r>
            <a:r>
              <a:rPr lang="en-US" err="1"/>
              <a:t>erumenimi</a:t>
            </a:r>
            <a:r>
              <a:rPr lang="en-US"/>
              <a:t>, </a:t>
            </a:r>
            <a:r>
              <a:rPr lang="en-US" err="1"/>
              <a:t>sitate</a:t>
            </a:r>
            <a:r>
              <a:rPr lang="en-US"/>
              <a:t>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maio</a:t>
            </a:r>
            <a:r>
              <a:rPr lang="en-US"/>
              <a:t>. </a:t>
            </a:r>
            <a:r>
              <a:rPr lang="en-US" err="1"/>
              <a:t>Incias</a:t>
            </a:r>
            <a:r>
              <a:rPr lang="en-US"/>
              <a:t> et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ecestet</a:t>
            </a:r>
            <a:r>
              <a:rPr lang="en-US"/>
              <a:t>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am </a:t>
            </a:r>
            <a:r>
              <a:rPr lang="en-US" err="1"/>
              <a:t>ipic</a:t>
            </a:r>
            <a:r>
              <a:rPr lang="en-US"/>
              <a:t> tempore </a:t>
            </a:r>
            <a:r>
              <a:rPr lang="en-US" err="1"/>
              <a:t>explandam</a:t>
            </a:r>
            <a:r>
              <a:rPr lang="en-US"/>
              <a:t>.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3200" y="16868141"/>
            <a:ext cx="10399432" cy="584584"/>
          </a:xfrm>
        </p:spPr>
        <p:txBody>
          <a:bodyPr/>
          <a:lstStyle>
            <a:lvl1pPr marL="441958" indent="-441958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9448800" y="0"/>
            <a:ext cx="24152372" cy="302006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HEADLINE HERE</a:t>
            </a:r>
            <a:br>
              <a:rPr lang="en-US"/>
            </a:br>
            <a:r>
              <a:rPr lang="en-US"/>
              <a:t>90 PT FONT RECOMMENDED</a:t>
            </a:r>
          </a:p>
        </p:txBody>
      </p:sp>
    </p:spTree>
    <p:extLst>
      <p:ext uri="{BB962C8B-B14F-4D97-AF65-F5344CB8AC3E}">
        <p14:creationId xmlns:p14="http://schemas.microsoft.com/office/powerpoint/2010/main" val="4289636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276600" y="11584821"/>
            <a:ext cx="31547128" cy="452474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9136" y="1"/>
            <a:ext cx="1679846" cy="3314699"/>
          </a:xfrm>
          <a:prstGeom prst="rect">
            <a:avLst/>
          </a:prstGeom>
        </p:spPr>
      </p:pic>
      <p:sp>
        <p:nvSpPr>
          <p:cNvPr id="3" name="Title Placeholder 10">
            <a:extLst>
              <a:ext uri="{FF2B5EF4-FFF2-40B4-BE49-F238E27FC236}">
                <a16:creationId xmlns:a16="http://schemas.microsoft.com/office/drawing/2014/main" id="{1AADB5F8-AFCA-E143-C745-30872EA7A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1" y="294639"/>
            <a:ext cx="26246449" cy="3020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8D7B6A-C0F7-6924-9A74-F0A96DDCA6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955722" y="23174458"/>
            <a:ext cx="5448297" cy="14320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F1C71E-16B3-A228-15B8-22A7C76AD21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600" y="762000"/>
            <a:ext cx="9550614" cy="30200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A69937-1616-0D4C-01AD-8C0724F171C3}"/>
              </a:ext>
            </a:extLst>
          </p:cNvPr>
          <p:cNvSpPr txBox="1"/>
          <p:nvPr userDrawn="1"/>
        </p:nvSpPr>
        <p:spPr>
          <a:xfrm>
            <a:off x="28807904" y="24841200"/>
            <a:ext cx="774393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20" b="1">
                <a:solidFill>
                  <a:srgbClr val="FBC71A"/>
                </a:solidFill>
                <a:latin typeface="+mn-lt"/>
              </a:rPr>
              <a:t>2026 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423000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ctr" defTabSz="2357164" rtl="0" eaLnBrk="1" latinLnBrk="0" hangingPunct="1">
        <a:lnSpc>
          <a:spcPts val="9184"/>
        </a:lnSpc>
        <a:spcBef>
          <a:spcPct val="0"/>
        </a:spcBef>
        <a:buNone/>
        <a:defRPr sz="8700" b="1" i="0" kern="1200" cap="all" baseline="0">
          <a:solidFill>
            <a:schemeClr val="tx1"/>
          </a:solidFill>
          <a:latin typeface="Franklin Gothic Demi" panose="020B0603020102020204" pitchFamily="34" charset="0"/>
          <a:ea typeface="Franklin Gothic Demi" panose="020B0603020102020204" pitchFamily="34" charset="0"/>
          <a:cs typeface="Franklin Gothic Demi" panose="020B0603020102020204" pitchFamily="34" charset="0"/>
        </a:defRPr>
      </a:lvl1pPr>
    </p:titleStyle>
    <p:bodyStyle>
      <a:lvl1pPr marL="441958" indent="-441958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1pPr>
      <a:lvl2pPr marL="883914" indent="-552447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2pPr>
      <a:lvl3pPr marL="1414261" indent="-552447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3pPr>
      <a:lvl4pPr marL="2033001" indent="-552447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4pPr>
      <a:lvl5pPr marL="2563350" indent="-552447" algn="l" defTabSz="2357164" rtl="0" eaLnBrk="1" latinLnBrk="0" hangingPunct="1">
        <a:lnSpc>
          <a:spcPts val="5124"/>
        </a:lnSpc>
        <a:spcBef>
          <a:spcPts val="0"/>
        </a:spcBef>
        <a:spcAft>
          <a:spcPts val="2417"/>
        </a:spcAft>
        <a:buClr>
          <a:schemeClr val="accent3"/>
        </a:buClr>
        <a:buSzPct val="120000"/>
        <a:buFont typeface="Wingdings" charset="2"/>
        <a:buChar char="§"/>
        <a:defRPr sz="319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5pPr>
      <a:lvl6pPr marL="6482194" indent="-589290" algn="l" defTabSz="2357164" rtl="0" eaLnBrk="1" latinLnBrk="0" hangingPunct="1">
        <a:spcBef>
          <a:spcPct val="20000"/>
        </a:spcBef>
        <a:buFont typeface="Arial" panose="020B0604020202020204" pitchFamily="34" charset="0"/>
        <a:buChar char="•"/>
        <a:defRPr sz="5124" kern="1200">
          <a:solidFill>
            <a:schemeClr val="tx1"/>
          </a:solidFill>
          <a:latin typeface="+mn-lt"/>
          <a:ea typeface="+mn-ea"/>
          <a:cs typeface="+mn-cs"/>
        </a:defRPr>
      </a:lvl6pPr>
      <a:lvl7pPr marL="7660778" indent="-589290" algn="l" defTabSz="2357164" rtl="0" eaLnBrk="1" latinLnBrk="0" hangingPunct="1">
        <a:spcBef>
          <a:spcPct val="20000"/>
        </a:spcBef>
        <a:buFont typeface="Arial" panose="020B0604020202020204" pitchFamily="34" charset="0"/>
        <a:buChar char="•"/>
        <a:defRPr sz="5124" kern="1200">
          <a:solidFill>
            <a:schemeClr val="tx1"/>
          </a:solidFill>
          <a:latin typeface="+mn-lt"/>
          <a:ea typeface="+mn-ea"/>
          <a:cs typeface="+mn-cs"/>
        </a:defRPr>
      </a:lvl7pPr>
      <a:lvl8pPr marL="8839359" indent="-589290" algn="l" defTabSz="2357164" rtl="0" eaLnBrk="1" latinLnBrk="0" hangingPunct="1">
        <a:spcBef>
          <a:spcPct val="20000"/>
        </a:spcBef>
        <a:buFont typeface="Arial" panose="020B0604020202020204" pitchFamily="34" charset="0"/>
        <a:buChar char="•"/>
        <a:defRPr sz="5124" kern="1200">
          <a:solidFill>
            <a:schemeClr val="tx1"/>
          </a:solidFill>
          <a:latin typeface="+mn-lt"/>
          <a:ea typeface="+mn-ea"/>
          <a:cs typeface="+mn-cs"/>
        </a:defRPr>
      </a:lvl8pPr>
      <a:lvl9pPr marL="10017939" indent="-589290" algn="l" defTabSz="2357164" rtl="0" eaLnBrk="1" latinLnBrk="0" hangingPunct="1">
        <a:spcBef>
          <a:spcPct val="20000"/>
        </a:spcBef>
        <a:buFont typeface="Arial" panose="020B0604020202020204" pitchFamily="34" charset="0"/>
        <a:buChar char="•"/>
        <a:defRPr sz="51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1pPr>
      <a:lvl2pPr marL="1178581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2pPr>
      <a:lvl3pPr marL="2357164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3pPr>
      <a:lvl4pPr marL="3535742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4pPr>
      <a:lvl5pPr marL="4714325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5pPr>
      <a:lvl6pPr marL="5892906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6pPr>
      <a:lvl7pPr marL="7071487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7pPr>
      <a:lvl8pPr marL="8250067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8pPr>
      <a:lvl9pPr marL="9428649" algn="l" defTabSz="2357164" rtl="0" eaLnBrk="1" latinLnBrk="0" hangingPunct="1">
        <a:defRPr sz="4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png"/><Relationship Id="rId15" Type="http://schemas.openxmlformats.org/officeDocument/2006/relationships/image" Target="../media/image18.svg"/><Relationship Id="rId10" Type="http://schemas.openxmlformats.org/officeDocument/2006/relationships/image" Target="../media/image13.sv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C600-03A3-48BA-47D9-D6253C51E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5DFF56-DE5C-47C3-2443-A8FC757057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8993" y="4207906"/>
            <a:ext cx="9605565" cy="800219"/>
          </a:xfrm>
          <a:solidFill>
            <a:srgbClr val="FBC71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rtlCol="0" anchor="ctr">
            <a:spAutoFit/>
          </a:bodyPr>
          <a:lstStyle/>
          <a:p>
            <a:r>
              <a:rPr lang="en-US" sz="5200">
                <a:solidFill>
                  <a:srgbClr val="000000"/>
                </a:solidFill>
                <a:ea typeface="Calibri"/>
                <a:cs typeface="Calibri"/>
              </a:rPr>
              <a:t> Background &amp; Objective:</a:t>
            </a:r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DAD023-596E-A90C-0A06-7814A78D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0036" y="111185"/>
            <a:ext cx="24152372" cy="3020060"/>
          </a:xfrm>
        </p:spPr>
        <p:txBody>
          <a:bodyPr/>
          <a:lstStyle/>
          <a:p>
            <a:r>
              <a:rPr lang="en-US"/>
              <a:t>LLM-Driven Smart Agents for User-Friendly Access to an Open Data Portal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80167D-C714-069B-B8A3-A8F49684C5D0}"/>
              </a:ext>
            </a:extLst>
          </p:cNvPr>
          <p:cNvSpPr txBox="1"/>
          <p:nvPr/>
        </p:nvSpPr>
        <p:spPr>
          <a:xfrm>
            <a:off x="11277600" y="2844416"/>
            <a:ext cx="2140917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/>
              <a:t>Team Members: Safal Shrestha, Pratik </a:t>
            </a:r>
            <a:r>
              <a:rPr lang="en-US" sz="4800" err="1"/>
              <a:t>Rauniyar</a:t>
            </a:r>
            <a:r>
              <a:rPr lang="en-US" sz="4800"/>
              <a:t>, </a:t>
            </a:r>
            <a:r>
              <a:rPr lang="en-US" sz="4800" err="1"/>
              <a:t>Bidhi</a:t>
            </a:r>
            <a:r>
              <a:rPr lang="en-US" sz="4800"/>
              <a:t> Paudel, Sikha Chaudhary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7FBA3-1E7B-D407-2465-0E9016F927F1}"/>
              </a:ext>
            </a:extLst>
          </p:cNvPr>
          <p:cNvSpPr txBox="1"/>
          <p:nvPr/>
        </p:nvSpPr>
        <p:spPr>
          <a:xfrm>
            <a:off x="333903" y="15140510"/>
            <a:ext cx="9368458" cy="923330"/>
          </a:xfrm>
          <a:prstGeom prst="rect">
            <a:avLst/>
          </a:prstGeom>
          <a:solidFill>
            <a:srgbClr val="FBC71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5400" b="1">
                <a:latin typeface="Calibri"/>
                <a:ea typeface="Calibri"/>
                <a:cs typeface="Calibri"/>
              </a:rPr>
              <a:t>KEY REQUIREMENT:</a:t>
            </a:r>
            <a:endParaRPr lang="en-US" sz="5400" b="1" i="0" u="none" strike="noStrike"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CEF331-0CAA-573C-197B-76535945FFE0}"/>
              </a:ext>
            </a:extLst>
          </p:cNvPr>
          <p:cNvSpPr txBox="1"/>
          <p:nvPr/>
        </p:nvSpPr>
        <p:spPr>
          <a:xfrm>
            <a:off x="10122746" y="4191292"/>
            <a:ext cx="15721077" cy="892552"/>
          </a:xfrm>
          <a:prstGeom prst="rect">
            <a:avLst/>
          </a:prstGeom>
          <a:solidFill>
            <a:srgbClr val="FBC71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5200" b="1"/>
              <a:t>CONCEPT DEVELOPMENT:</a:t>
            </a:r>
            <a:endParaRPr lang="en-US" sz="5200" b="1"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2C41A4-7293-33CD-FB1A-5BFF15185CA4}"/>
              </a:ext>
            </a:extLst>
          </p:cNvPr>
          <p:cNvSpPr txBox="1"/>
          <p:nvPr/>
        </p:nvSpPr>
        <p:spPr>
          <a:xfrm>
            <a:off x="26227304" y="4213284"/>
            <a:ext cx="10095604" cy="892552"/>
          </a:xfrm>
          <a:prstGeom prst="rect">
            <a:avLst/>
          </a:prstGeom>
          <a:solidFill>
            <a:srgbClr val="FBC71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5200" b="1"/>
              <a:t>THE FINAL DESIGN:</a:t>
            </a:r>
            <a:endParaRPr lang="en-US" sz="5200" b="1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92261B-3000-5E64-8556-C78FC564A0BE}"/>
              </a:ext>
            </a:extLst>
          </p:cNvPr>
          <p:cNvSpPr txBox="1"/>
          <p:nvPr/>
        </p:nvSpPr>
        <p:spPr>
          <a:xfrm>
            <a:off x="26220656" y="20364329"/>
            <a:ext cx="9990940" cy="2554545"/>
          </a:xfrm>
          <a:prstGeom prst="rect">
            <a:avLst/>
          </a:prstGeom>
          <a:solidFill>
            <a:srgbClr val="FBC71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/>
              <a:t>Dr. Xiaogang (Marshall) Ma — Faculty Advisor</a:t>
            </a:r>
            <a:br>
              <a:rPr lang="en-US" sz="4000"/>
            </a:br>
            <a:r>
              <a:rPr lang="en-US" sz="4000"/>
              <a:t>Dr. </a:t>
            </a:r>
            <a:r>
              <a:rPr lang="en-US" sz="4000" err="1"/>
              <a:t>Jiyin</a:t>
            </a:r>
            <a:r>
              <a:rPr lang="en-US" sz="4000"/>
              <a:t> Zhang — Postdoctoral researcher</a:t>
            </a:r>
            <a:endParaRPr lang="en-US" sz="4000">
              <a:ea typeface="Calibri"/>
              <a:cs typeface="Calibri"/>
            </a:endParaRPr>
          </a:p>
          <a:p>
            <a:r>
              <a:rPr lang="en-US" sz="4000"/>
              <a:t>Dr. Terence Soule - Professor</a:t>
            </a:r>
            <a:br>
              <a:rPr lang="en-US" sz="4000"/>
            </a:br>
            <a:r>
              <a:rPr lang="en-US" sz="4000"/>
              <a:t>Mindat.org API, University of Idaho CS Dept.</a:t>
            </a:r>
            <a:endParaRPr lang="en-US" sz="4000"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711F7E-6D7D-0736-5827-173358DF070D}"/>
              </a:ext>
            </a:extLst>
          </p:cNvPr>
          <p:cNvSpPr txBox="1"/>
          <p:nvPr/>
        </p:nvSpPr>
        <p:spPr>
          <a:xfrm>
            <a:off x="132727" y="21205661"/>
            <a:ext cx="9591666" cy="892552"/>
          </a:xfrm>
          <a:prstGeom prst="rect">
            <a:avLst/>
          </a:prstGeom>
          <a:solidFill>
            <a:srgbClr val="FBC71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5200" b="1"/>
              <a:t>VALIDATION:</a:t>
            </a:r>
            <a:endParaRPr lang="en-US" sz="5200" b="1"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081A5E-7A01-F701-4B2F-78A3A3A25F43}"/>
              </a:ext>
            </a:extLst>
          </p:cNvPr>
          <p:cNvSpPr txBox="1"/>
          <p:nvPr/>
        </p:nvSpPr>
        <p:spPr>
          <a:xfrm>
            <a:off x="26255690" y="14783421"/>
            <a:ext cx="10012016" cy="440120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/>
              <a:t>✓ Multi-agent </a:t>
            </a:r>
            <a:r>
              <a:rPr lang="en-US" sz="4000" err="1"/>
              <a:t>LangGraph</a:t>
            </a:r>
            <a:r>
              <a:rPr lang="en-US" sz="4000"/>
              <a:t> system successfully routes natural-language mineral queries to specialized agents</a:t>
            </a:r>
            <a:endParaRPr lang="en-US" sz="4000">
              <a:ea typeface="Calibri"/>
              <a:cs typeface="Calibri"/>
            </a:endParaRPr>
          </a:p>
          <a:p>
            <a:r>
              <a:rPr lang="en-US" sz="4000"/>
              <a:t>✓ MCP tool layer decouples data collection from agent logic — 6 reusable tools registered</a:t>
            </a:r>
            <a:endParaRPr lang="en-US" sz="4000">
              <a:ea typeface="Calibri"/>
              <a:cs typeface="Calibri"/>
            </a:endParaRPr>
          </a:p>
          <a:p>
            <a:r>
              <a:rPr lang="en-US" sz="4000"/>
              <a:t>✓ Vega-Lite renderer produces interactive plots with just one Natural Language prompt.</a:t>
            </a:r>
            <a:endParaRPr lang="en-US" sz="400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1B796-F2A1-85B1-769F-1671D19FC1F4}"/>
              </a:ext>
            </a:extLst>
          </p:cNvPr>
          <p:cNvSpPr txBox="1"/>
          <p:nvPr/>
        </p:nvSpPr>
        <p:spPr>
          <a:xfrm>
            <a:off x="308062" y="5155452"/>
            <a:ext cx="9542090" cy="4401205"/>
          </a:xfrm>
          <a:prstGeom prst="rect">
            <a:avLst/>
          </a:prstGeom>
          <a:solidFill>
            <a:srgbClr val="FBC71A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ea typeface="+mn-lt"/>
                <a:cs typeface="+mn-lt"/>
              </a:rPr>
              <a:t>Mindat.org holds massive data of mineral species across 40+ API endpoints. Query in git requires geoscience knowledge, and API parameters are inaccessible to most researchers. The Alchemist eliminates that barrier with LLM-driven multi-agent automation.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40742A-FD1C-93FC-943A-365451030A40}"/>
              </a:ext>
            </a:extLst>
          </p:cNvPr>
          <p:cNvSpPr txBox="1"/>
          <p:nvPr/>
        </p:nvSpPr>
        <p:spPr>
          <a:xfrm>
            <a:off x="252706" y="9990662"/>
            <a:ext cx="9515793" cy="892552"/>
          </a:xfrm>
          <a:prstGeom prst="rect">
            <a:avLst/>
          </a:prstGeom>
          <a:solidFill>
            <a:srgbClr val="FBC71A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anchor="ctr">
            <a:spAutoFit/>
          </a:bodyPr>
          <a:lstStyle/>
          <a:p>
            <a:r>
              <a:rPr lang="en-US" sz="5200" b="1"/>
              <a:t>VALUE PROPOSITION:</a:t>
            </a:r>
            <a:endParaRPr lang="en-US" sz="8050" b="1"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BD14B9-004F-B55D-794E-0E377DD67497}"/>
              </a:ext>
            </a:extLst>
          </p:cNvPr>
          <p:cNvSpPr txBox="1"/>
          <p:nvPr/>
        </p:nvSpPr>
        <p:spPr>
          <a:xfrm>
            <a:off x="311552" y="11103885"/>
            <a:ext cx="9503460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chemeClr val="dk1"/>
                </a:solidFill>
                <a:highlight>
                  <a:srgbClr val="FBC71B"/>
                </a:highlight>
                <a:ea typeface="Calibri"/>
                <a:cs typeface="Calibri"/>
              </a:rPr>
              <a:t> 🔬 </a:t>
            </a:r>
            <a:r>
              <a:rPr lang="en-US" sz="4000">
                <a:solidFill>
                  <a:schemeClr val="dk1"/>
                </a:solidFill>
                <a:ea typeface="Calibri"/>
                <a:cs typeface="Calibri"/>
              </a:rPr>
              <a:t> Researchers — </a:t>
            </a:r>
            <a:r>
              <a:rPr lang="en-US" sz="4000">
                <a:solidFill>
                  <a:schemeClr val="dk1"/>
                </a:solidFill>
                <a:ea typeface="+mn-lt"/>
                <a:cs typeface="+mn-lt"/>
              </a:rPr>
              <a:t>analyze mineral data without coding</a:t>
            </a:r>
            <a:endParaRPr lang="en-US" sz="4000">
              <a:solidFill>
                <a:schemeClr val="dk1"/>
              </a:solidFill>
              <a:ea typeface="Calibri"/>
              <a:cs typeface="Calibri"/>
            </a:endParaRPr>
          </a:p>
          <a:p>
            <a:r>
              <a:rPr lang="en-US" sz="4000">
                <a:solidFill>
                  <a:schemeClr val="dk1"/>
                </a:solidFill>
                <a:highlight>
                  <a:srgbClr val="FBC71B"/>
                </a:highlight>
                <a:ea typeface="Calibri"/>
                <a:cs typeface="Calibri"/>
              </a:rPr>
              <a:t> 🌿 </a:t>
            </a:r>
            <a:r>
              <a:rPr lang="en-US" sz="4000">
                <a:solidFill>
                  <a:schemeClr val="dk1"/>
                </a:solidFill>
                <a:ea typeface="Calibri"/>
                <a:cs typeface="Calibri"/>
              </a:rPr>
              <a:t> Students — </a:t>
            </a:r>
            <a:r>
              <a:rPr lang="en-US" sz="4000">
                <a:solidFill>
                  <a:schemeClr val="dk1"/>
                </a:solidFill>
                <a:ea typeface="+mn-lt"/>
                <a:cs typeface="+mn-lt"/>
              </a:rPr>
              <a:t>explore geoscience using natural language</a:t>
            </a:r>
          </a:p>
          <a:p>
            <a:r>
              <a:rPr lang="en-US" sz="4000">
                <a:solidFill>
                  <a:schemeClr val="dk1"/>
                </a:solidFill>
                <a:highlight>
                  <a:srgbClr val="FBC71B"/>
                </a:highlight>
                <a:ea typeface="Calibri"/>
                <a:cs typeface="Calibri"/>
              </a:rPr>
              <a:t> 📊 </a:t>
            </a:r>
            <a:r>
              <a:rPr lang="en-US" sz="4000">
                <a:solidFill>
                  <a:schemeClr val="dk1"/>
                </a:solidFill>
                <a:ea typeface="Calibri"/>
                <a:cs typeface="Calibri"/>
              </a:rPr>
              <a:t> Policy makers — </a:t>
            </a:r>
            <a:r>
              <a:rPr lang="en-US" sz="4000">
                <a:solidFill>
                  <a:schemeClr val="dk1"/>
                </a:solidFill>
                <a:ea typeface="+mn-lt"/>
                <a:cs typeface="+mn-lt"/>
              </a:rPr>
              <a:t>visualize global mineral distributions</a:t>
            </a:r>
          </a:p>
          <a:p>
            <a:endParaRPr lang="en-US" sz="4000">
              <a:solidFill>
                <a:schemeClr val="dk1"/>
              </a:solidFill>
              <a:ea typeface="+mn-lt"/>
              <a:cs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DF5FF9-166D-5BAF-9DD1-D034D900B7CE}"/>
              </a:ext>
            </a:extLst>
          </p:cNvPr>
          <p:cNvSpPr txBox="1"/>
          <p:nvPr/>
        </p:nvSpPr>
        <p:spPr>
          <a:xfrm>
            <a:off x="273939" y="16065218"/>
            <a:ext cx="9376738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Accept natural language queries and translate to structured </a:t>
            </a:r>
            <a:r>
              <a:rPr lang="en-US" sz="4000" err="1">
                <a:ea typeface="+mn-lt"/>
                <a:cs typeface="+mn-lt"/>
              </a:rPr>
              <a:t>Mindat</a:t>
            </a:r>
            <a:r>
              <a:rPr lang="en-US" sz="4000">
                <a:ea typeface="+mn-lt"/>
                <a:cs typeface="+mn-lt"/>
              </a:rPr>
              <a:t> API calls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571500" indent="-571500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Multi-step workflow: retrieve, analyze, visualize in one agent pass</a:t>
            </a:r>
          </a:p>
          <a:p>
            <a:pPr marL="571500" indent="-571500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Generate histograms, network diagrams, and locality heatmaps</a:t>
            </a:r>
          </a:p>
          <a:p>
            <a:pPr marL="571500" indent="-571500">
              <a:buFont typeface="Arial"/>
              <a:buChar char="•"/>
            </a:pPr>
            <a:r>
              <a:rPr lang="en-US" sz="4000">
                <a:ea typeface="+mn-lt"/>
                <a:cs typeface="+mn-lt"/>
              </a:rPr>
              <a:t>Secure auth, persistent sessions, and cross-platform deployment</a:t>
            </a:r>
            <a:endParaRPr lang="en-GB" sz="4000">
              <a:ea typeface="+mn-lt"/>
              <a:cs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05ECDA-C394-EFAE-6C57-9413309099E7}"/>
              </a:ext>
            </a:extLst>
          </p:cNvPr>
          <p:cNvSpPr txBox="1"/>
          <p:nvPr/>
        </p:nvSpPr>
        <p:spPr>
          <a:xfrm>
            <a:off x="4752829" y="22482218"/>
            <a:ext cx="5120921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ü"/>
            </a:pPr>
            <a:r>
              <a:rPr lang="en-GB" sz="4000"/>
              <a:t>Visualization output </a:t>
            </a:r>
            <a:endParaRPr lang="en-GB" sz="4000">
              <a:ea typeface="Calibri"/>
              <a:cs typeface="Calibri"/>
            </a:endParaRPr>
          </a:p>
          <a:p>
            <a:pPr marL="571500" indent="-571500">
              <a:buFont typeface="Wingdings"/>
              <a:buChar char="ü"/>
            </a:pPr>
            <a:r>
              <a:rPr lang="en-GB" sz="4000"/>
              <a:t>Database integration</a:t>
            </a:r>
            <a:endParaRPr lang="en-GB" sz="4000">
              <a:ea typeface="Calibri"/>
              <a:cs typeface="Calibri"/>
            </a:endParaRPr>
          </a:p>
          <a:p>
            <a:pPr marL="571500" indent="-571500">
              <a:buFont typeface="Wingdings"/>
              <a:buChar char="ü"/>
            </a:pPr>
            <a:r>
              <a:rPr lang="en-GB" sz="4000"/>
              <a:t>Auth end to end flow</a:t>
            </a:r>
            <a:endParaRPr lang="en-GB" sz="4000">
              <a:ea typeface="Calibri"/>
              <a:cs typeface="Calibri"/>
            </a:endParaRPr>
          </a:p>
          <a:p>
            <a:pPr marL="571500" indent="-571500">
              <a:buFont typeface="Wingdings"/>
              <a:buChar char="ü"/>
            </a:pPr>
            <a:r>
              <a:rPr lang="en-GB" sz="4000"/>
              <a:t>System latency &lt;1.5s</a:t>
            </a:r>
            <a:endParaRPr lang="en-GB" sz="4000">
              <a:ea typeface="Calibri"/>
              <a:cs typeface="Calibri"/>
            </a:endParaRPr>
          </a:p>
          <a:p>
            <a:pPr marL="571500" indent="-571500">
              <a:buFont typeface="Wingdings"/>
              <a:buChar char="ü"/>
            </a:pPr>
            <a:r>
              <a:rPr lang="en-GB" sz="4000"/>
              <a:t>Agent Input and Output Optimization</a:t>
            </a:r>
            <a:endParaRPr lang="en-GB" sz="4000">
              <a:ea typeface="Calibri"/>
              <a:cs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F65386-EAE3-911A-4D9D-F35E0FAB17AA}"/>
              </a:ext>
            </a:extLst>
          </p:cNvPr>
          <p:cNvSpPr txBox="1"/>
          <p:nvPr/>
        </p:nvSpPr>
        <p:spPr>
          <a:xfrm>
            <a:off x="9956577" y="22473277"/>
            <a:ext cx="15763025" cy="923330"/>
          </a:xfrm>
          <a:prstGeom prst="rect">
            <a:avLst/>
          </a:prstGeom>
          <a:solidFill>
            <a:srgbClr val="FBC71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5400" b="1">
                <a:latin typeface="Calibri"/>
                <a:ea typeface="Calibri"/>
                <a:cs typeface="Calibri"/>
              </a:rPr>
              <a:t>TECHNOLOGY STACK:</a:t>
            </a:r>
            <a:endParaRPr lang="en-US" sz="5400" b="1" i="0" u="none" strike="noStrike"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25C6D8-F755-2791-B27B-F5C558164104}"/>
              </a:ext>
            </a:extLst>
          </p:cNvPr>
          <p:cNvSpPr txBox="1"/>
          <p:nvPr/>
        </p:nvSpPr>
        <p:spPr>
          <a:xfrm>
            <a:off x="26225313" y="19338830"/>
            <a:ext cx="9990501" cy="892552"/>
          </a:xfrm>
          <a:prstGeom prst="rect">
            <a:avLst/>
          </a:prstGeom>
          <a:solidFill>
            <a:srgbClr val="FBC71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5200" b="1">
                <a:ea typeface="+mn-lt"/>
                <a:cs typeface="+mn-lt"/>
              </a:rPr>
              <a:t>ACKNOWLEDGMENT: </a:t>
            </a:r>
            <a:endParaRPr lang="en-US" sz="8050" b="1">
              <a:ea typeface="Calibri"/>
              <a:cs typeface="Calibr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202337-153C-C951-4CB9-850B0F5F64F4}"/>
              </a:ext>
            </a:extLst>
          </p:cNvPr>
          <p:cNvSpPr txBox="1"/>
          <p:nvPr/>
        </p:nvSpPr>
        <p:spPr>
          <a:xfrm>
            <a:off x="26225313" y="13813345"/>
            <a:ext cx="9990501" cy="892552"/>
          </a:xfrm>
          <a:prstGeom prst="rect">
            <a:avLst/>
          </a:prstGeom>
          <a:solidFill>
            <a:srgbClr val="FBC71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r>
              <a:rPr lang="en-US" sz="5200" b="1">
                <a:ea typeface="+mn-lt"/>
                <a:cs typeface="+mn-lt"/>
              </a:rPr>
              <a:t>CONCLUSIONS:</a:t>
            </a:r>
            <a:endParaRPr lang="en-US" sz="8050" b="1">
              <a:ea typeface="Calibri"/>
              <a:cs typeface="Calibri"/>
            </a:endParaRPr>
          </a:p>
        </p:txBody>
      </p:sp>
      <p:pic>
        <p:nvPicPr>
          <p:cNvPr id="41" name="Picture 40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F2387AE-E030-7609-ED5D-F031D364A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6742" y="5305977"/>
            <a:ext cx="5238487" cy="4128740"/>
          </a:xfrm>
          <a:prstGeom prst="rect">
            <a:avLst/>
          </a:prstGeom>
        </p:spPr>
      </p:pic>
      <p:pic>
        <p:nvPicPr>
          <p:cNvPr id="43" name="Picture 42" descr="A graph with colored dots&#10;&#10;AI-generated content may be incorrect.">
            <a:extLst>
              <a:ext uri="{FF2B5EF4-FFF2-40B4-BE49-F238E27FC236}">
                <a16:creationId xmlns:a16="http://schemas.microsoft.com/office/drawing/2014/main" id="{369F24E4-76DB-6091-29F2-C862AB942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6875" y="5315410"/>
            <a:ext cx="4331370" cy="411647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CAC1404-F984-5ABB-1147-B3D51B93C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6562" y="9751329"/>
            <a:ext cx="5198503" cy="3879799"/>
          </a:xfrm>
          <a:prstGeom prst="rect">
            <a:avLst/>
          </a:prstGeom>
        </p:spPr>
      </p:pic>
      <p:pic>
        <p:nvPicPr>
          <p:cNvPr id="47" name="Picture 46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00230EB6-6C21-4532-2DAE-DF7FEC7A90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07660" y="9747730"/>
            <a:ext cx="4358891" cy="3884766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1BB6CEA5-C3C3-155F-253D-DF2E973388BC}"/>
              </a:ext>
            </a:extLst>
          </p:cNvPr>
          <p:cNvGrpSpPr/>
          <p:nvPr/>
        </p:nvGrpSpPr>
        <p:grpSpPr>
          <a:xfrm>
            <a:off x="10156664" y="23671864"/>
            <a:ext cx="15562559" cy="1279133"/>
            <a:chOff x="197669" y="25140195"/>
            <a:chExt cx="13200398" cy="1405716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AB4DBE7C-95DE-6817-E266-A9F9AAC770FB}"/>
                </a:ext>
              </a:extLst>
            </p:cNvPr>
            <p:cNvSpPr/>
            <p:nvPr/>
          </p:nvSpPr>
          <p:spPr>
            <a:xfrm>
              <a:off x="197669" y="25140195"/>
              <a:ext cx="7770525" cy="1365585"/>
            </a:xfrm>
            <a:prstGeom prst="roundRect">
              <a:avLst/>
            </a:prstGeom>
            <a:solidFill>
              <a:srgbClr val="FBC71A"/>
            </a:solidFill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5000">
                  <a:solidFill>
                    <a:schemeClr val="tx1"/>
                  </a:solidFill>
                </a:rPr>
                <a:t>Backend</a:t>
              </a:r>
              <a:endParaRPr lang="en-US" sz="500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A17164E5-1907-500C-4CAF-34F2DC465328}"/>
                </a:ext>
              </a:extLst>
            </p:cNvPr>
            <p:cNvSpPr/>
            <p:nvPr/>
          </p:nvSpPr>
          <p:spPr>
            <a:xfrm>
              <a:off x="8937990" y="25180788"/>
              <a:ext cx="4460077" cy="1365123"/>
            </a:xfrm>
            <a:prstGeom prst="roundRect">
              <a:avLst/>
            </a:prstGeom>
            <a:solidFill>
              <a:srgbClr val="FBC71A"/>
            </a:solidFill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GB" sz="5000">
                  <a:solidFill>
                    <a:schemeClr val="tx1"/>
                  </a:solidFill>
                  <a:ea typeface="Calibri"/>
                  <a:cs typeface="Calibri"/>
                </a:rPr>
                <a:t>Frontend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AAEB3D7-6005-0033-7B1D-FE9412692730}"/>
              </a:ext>
            </a:extLst>
          </p:cNvPr>
          <p:cNvGrpSpPr/>
          <p:nvPr/>
        </p:nvGrpSpPr>
        <p:grpSpPr>
          <a:xfrm>
            <a:off x="20856977" y="25064489"/>
            <a:ext cx="4680631" cy="1349923"/>
            <a:chOff x="8668965" y="23766053"/>
            <a:chExt cx="4405041" cy="1072661"/>
          </a:xfrm>
        </p:grpSpPr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262174C4-9D94-8FE6-DA2B-EBC4D87B20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668965" y="23798493"/>
              <a:ext cx="1038319" cy="100802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D1AB1EFD-3607-5536-8526-B5B3A81A8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29343" y="23806394"/>
              <a:ext cx="1032534" cy="1032320"/>
            </a:xfrm>
            <a:prstGeom prst="rect">
              <a:avLst/>
            </a:prstGeom>
          </p:spPr>
        </p:pic>
        <p:pic>
          <p:nvPicPr>
            <p:cNvPr id="48" name="Picture 47" descr="A blue rectangle with black text&#10;&#10;AI-generated content may be incorrect.">
              <a:extLst>
                <a:ext uri="{FF2B5EF4-FFF2-40B4-BE49-F238E27FC236}">
                  <a16:creationId xmlns:a16="http://schemas.microsoft.com/office/drawing/2014/main" id="{D1DBED82-82D1-4B64-4F10-7079FA403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950807" y="23766053"/>
              <a:ext cx="1039373" cy="1011686"/>
            </a:xfrm>
            <a:prstGeom prst="rect">
              <a:avLst/>
            </a:prstGeom>
          </p:spPr>
        </p:pic>
        <p:pic>
          <p:nvPicPr>
            <p:cNvPr id="49" name="Picture 48" descr="A blue rectangle with black text&#10;&#10;AI-generated content may be incorrect.">
              <a:extLst>
                <a:ext uri="{FF2B5EF4-FFF2-40B4-BE49-F238E27FC236}">
                  <a16:creationId xmlns:a16="http://schemas.microsoft.com/office/drawing/2014/main" id="{992F244E-BFD2-B7DB-FB89-5608D5458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034633" y="23793854"/>
              <a:ext cx="1039373" cy="1025584"/>
            </a:xfrm>
            <a:prstGeom prst="rect">
              <a:avLst/>
            </a:prstGeom>
          </p:spPr>
        </p:pic>
      </p:grpSp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92921472-929D-2B6F-5F20-35738B16FECE}"/>
              </a:ext>
            </a:extLst>
          </p:cNvPr>
          <p:cNvGrpSpPr/>
          <p:nvPr/>
        </p:nvGrpSpPr>
        <p:grpSpPr>
          <a:xfrm>
            <a:off x="10141640" y="24994090"/>
            <a:ext cx="8896698" cy="1428432"/>
            <a:chOff x="10488644" y="24994090"/>
            <a:chExt cx="8896698" cy="1428432"/>
          </a:xfrm>
        </p:grpSpPr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04A0C960-FE08-603E-6B2F-BFD9A53673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381832" y="25055177"/>
              <a:ext cx="1531491" cy="1367345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E8EA1EB2-ECE4-20F3-4F35-9930BE8F61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488644" y="24994090"/>
              <a:ext cx="1531210" cy="1419103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A7781BA5-5320-850E-9707-8384422B0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261789" y="25348779"/>
              <a:ext cx="829578" cy="810949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8365936-1611-7ACD-A225-E6E9A2F2F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539624" y="25286999"/>
              <a:ext cx="837261" cy="922485"/>
            </a:xfrm>
            <a:prstGeom prst="rect">
              <a:avLst/>
            </a:prstGeom>
          </p:spPr>
        </p:pic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51229288-746D-2D50-B4D6-2B8C0B5BCF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6942848" y="25373387"/>
              <a:ext cx="921452" cy="849582"/>
            </a:xfrm>
            <a:prstGeom prst="rect">
              <a:avLst/>
            </a:prstGeom>
          </p:spPr>
        </p:pic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E1C75782-25D7-1343-2FD7-7338B09F98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8283686" y="25294723"/>
              <a:ext cx="1101656" cy="936491"/>
            </a:xfrm>
            <a:prstGeom prst="rect">
              <a:avLst/>
            </a:prstGeom>
          </p:spPr>
        </p:pic>
      </p:grpSp>
      <p:graphicFrame>
        <p:nvGraphicFramePr>
          <p:cNvPr id="1062" name="Table 1061">
            <a:extLst>
              <a:ext uri="{FF2B5EF4-FFF2-40B4-BE49-F238E27FC236}">
                <a16:creationId xmlns:a16="http://schemas.microsoft.com/office/drawing/2014/main" id="{C6D93839-B83E-3A07-ACCD-4F1A54F41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474139"/>
              </p:ext>
            </p:extLst>
          </p:nvPr>
        </p:nvGraphicFramePr>
        <p:xfrm>
          <a:off x="124936" y="22471559"/>
          <a:ext cx="4529290" cy="3606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338">
                  <a:extLst>
                    <a:ext uri="{9D8B030D-6E8A-4147-A177-3AD203B41FA5}">
                      <a16:colId xmlns:a16="http://schemas.microsoft.com/office/drawing/2014/main" val="1982825755"/>
                    </a:ext>
                  </a:extLst>
                </a:gridCol>
                <a:gridCol w="2835952">
                  <a:extLst>
                    <a:ext uri="{9D8B030D-6E8A-4147-A177-3AD203B41FA5}">
                      <a16:colId xmlns:a16="http://schemas.microsoft.com/office/drawing/2014/main" val="820014316"/>
                    </a:ext>
                  </a:extLst>
                </a:gridCol>
              </a:tblGrid>
              <a:tr h="887154">
                <a:tc>
                  <a:txBody>
                    <a:bodyPr/>
                    <a:lstStyle/>
                    <a:p>
                      <a:pPr algn="ctr"/>
                      <a:r>
                        <a:rPr lang="en-US" sz="4400" b="1">
                          <a:solidFill>
                            <a:schemeClr val="tx1"/>
                          </a:solidFill>
                        </a:rPr>
                        <a:t>90%</a:t>
                      </a:r>
                    </a:p>
                  </a:txBody>
                  <a:tcPr anchor="ctr">
                    <a:solidFill>
                      <a:srgbClr val="FBC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Success Rate</a:t>
                      </a:r>
                    </a:p>
                  </a:txBody>
                  <a:tcPr anchor="ctr">
                    <a:solidFill>
                      <a:srgbClr val="FBC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11199"/>
                  </a:ext>
                </a:extLst>
              </a:tr>
              <a:tr h="887154">
                <a:tc>
                  <a:txBody>
                    <a:bodyPr/>
                    <a:lstStyle/>
                    <a:p>
                      <a:pPr algn="ctr"/>
                      <a:r>
                        <a:rPr lang="en-US" sz="4400" b="1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BC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MCP Tools</a:t>
                      </a:r>
                    </a:p>
                  </a:txBody>
                  <a:tcPr anchor="ctr">
                    <a:solidFill>
                      <a:srgbClr val="FBC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494640"/>
                  </a:ext>
                </a:extLst>
              </a:tr>
              <a:tr h="887154">
                <a:tc>
                  <a:txBody>
                    <a:bodyPr/>
                    <a:lstStyle/>
                    <a:p>
                      <a:pPr algn="ctr"/>
                      <a:r>
                        <a:rPr lang="en-US" sz="4400" b="1">
                          <a:solidFill>
                            <a:schemeClr val="tx1"/>
                          </a:solidFill>
                        </a:rPr>
                        <a:t>5 </a:t>
                      </a:r>
                    </a:p>
                  </a:txBody>
                  <a:tcPr anchor="ctr">
                    <a:solidFill>
                      <a:srgbClr val="FBC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Specialized Agents</a:t>
                      </a:r>
                    </a:p>
                  </a:txBody>
                  <a:tcPr anchor="ctr">
                    <a:solidFill>
                      <a:srgbClr val="FBC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654955"/>
                  </a:ext>
                </a:extLst>
              </a:tr>
              <a:tr h="887154">
                <a:tc>
                  <a:txBody>
                    <a:bodyPr/>
                    <a:lstStyle/>
                    <a:p>
                      <a:pPr algn="ctr"/>
                      <a:r>
                        <a:rPr lang="en-US" sz="4400" b="1">
                          <a:solidFill>
                            <a:schemeClr val="tx1"/>
                          </a:solidFill>
                        </a:rPr>
                        <a:t>3.1s</a:t>
                      </a:r>
                    </a:p>
                  </a:txBody>
                  <a:tcPr anchor="ctr">
                    <a:solidFill>
                      <a:srgbClr val="FBC7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solidFill>
                            <a:schemeClr val="tx1"/>
                          </a:solidFill>
                        </a:rPr>
                        <a:t>Average latency</a:t>
                      </a:r>
                    </a:p>
                  </a:txBody>
                  <a:tcPr anchor="ctr">
                    <a:solidFill>
                      <a:srgbClr val="FBC7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663882"/>
                  </a:ext>
                </a:extLst>
              </a:tr>
            </a:tbl>
          </a:graphicData>
        </a:graphic>
      </p:graphicFrame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11EA54F9-2B85-63BC-AAD2-2D0080ACEB3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78797" y="8598076"/>
            <a:ext cx="15749747" cy="13819951"/>
          </a:xfrm>
          <a:prstGeom prst="rect">
            <a:avLst/>
          </a:prstGeom>
        </p:spPr>
      </p:pic>
      <p:pic>
        <p:nvPicPr>
          <p:cNvPr id="20" name="Graphic 19" descr="Users with solid fill">
            <a:extLst>
              <a:ext uri="{FF2B5EF4-FFF2-40B4-BE49-F238E27FC236}">
                <a16:creationId xmlns:a16="http://schemas.microsoft.com/office/drawing/2014/main" id="{4D4E2E94-55A7-A115-C08E-4985AEE6C1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832956" y="9308387"/>
            <a:ext cx="2626404" cy="2284817"/>
          </a:xfrm>
          <a:prstGeom prst="rect">
            <a:avLst/>
          </a:prstGeom>
        </p:spPr>
      </p:pic>
      <p:pic>
        <p:nvPicPr>
          <p:cNvPr id="24" name="Picture 23" descr="A red sign with a book and pencil&#10;&#10;AI-generated content may be incorrect.">
            <a:extLst>
              <a:ext uri="{FF2B5EF4-FFF2-40B4-BE49-F238E27FC236}">
                <a16:creationId xmlns:a16="http://schemas.microsoft.com/office/drawing/2014/main" id="{B8BD1B73-D0F8-3903-7848-EC4A4289D2D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183866" y="24610816"/>
            <a:ext cx="1456036" cy="1484858"/>
          </a:xfrm>
          <a:prstGeom prst="rect">
            <a:avLst/>
          </a:prstGeom>
        </p:spPr>
      </p:pic>
      <p:pic>
        <p:nvPicPr>
          <p:cNvPr id="26" name="Picture 25" descr="A white cubes on an orange background&#10;&#10;AI-generated content may be incorrect.">
            <a:extLst>
              <a:ext uri="{FF2B5EF4-FFF2-40B4-BE49-F238E27FC236}">
                <a16:creationId xmlns:a16="http://schemas.microsoft.com/office/drawing/2014/main" id="{15E0BE56-909B-2970-F592-A39624263A0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837942" y="23006280"/>
            <a:ext cx="1459581" cy="1398957"/>
          </a:xfrm>
          <a:prstGeom prst="rect">
            <a:avLst/>
          </a:prstGeom>
        </p:spPr>
      </p:pic>
      <p:pic>
        <p:nvPicPr>
          <p:cNvPr id="29" name="Picture 28" descr="A green sign with white text and a tree and birds&#10;&#10;AI-generated content may be incorrect.">
            <a:extLst>
              <a:ext uri="{FF2B5EF4-FFF2-40B4-BE49-F238E27FC236}">
                <a16:creationId xmlns:a16="http://schemas.microsoft.com/office/drawing/2014/main" id="{89493361-DF1E-138B-E88D-63FEB46DDB5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208260" y="23001184"/>
            <a:ext cx="1431733" cy="1402269"/>
          </a:xfrm>
          <a:prstGeom prst="rect">
            <a:avLst/>
          </a:prstGeom>
        </p:spPr>
      </p:pic>
      <p:pic>
        <p:nvPicPr>
          <p:cNvPr id="31" name="Picture 30" descr="A blue square with white text and a logo&#10;&#10;AI-generated content may be incorrect.">
            <a:extLst>
              <a:ext uri="{FF2B5EF4-FFF2-40B4-BE49-F238E27FC236}">
                <a16:creationId xmlns:a16="http://schemas.microsoft.com/office/drawing/2014/main" id="{5890B003-D2A0-2A43-D59D-2E297FAAEE3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847802" y="24612997"/>
            <a:ext cx="1498422" cy="149274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59B1464-835A-2314-9A2C-B992D0DA34C7}"/>
              </a:ext>
            </a:extLst>
          </p:cNvPr>
          <p:cNvSpPr txBox="1"/>
          <p:nvPr/>
        </p:nvSpPr>
        <p:spPr>
          <a:xfrm>
            <a:off x="10431569" y="5365889"/>
            <a:ext cx="15637320" cy="44012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+mn-lt"/>
                <a:cs typeface="+mn-lt"/>
              </a:rPr>
              <a:t>Multi-agent Architecture: </a:t>
            </a:r>
            <a:r>
              <a:rPr lang="en-US" sz="4000">
                <a:ea typeface="+mn-lt"/>
                <a:cs typeface="+mn-lt"/>
              </a:rPr>
              <a:t>One supervisor agent and several specialized agents. </a:t>
            </a:r>
          </a:p>
          <a:p>
            <a:r>
              <a:rPr lang="en-US" sz="4000" b="1">
                <a:ea typeface="+mn-lt"/>
                <a:cs typeface="+mn-lt"/>
              </a:rPr>
              <a:t>LLMs Driven Agents: </a:t>
            </a:r>
            <a:r>
              <a:rPr lang="en-US" sz="4000">
                <a:ea typeface="+mn-lt"/>
                <a:cs typeface="+mn-lt"/>
              </a:rPr>
              <a:t>Translate natural language into structured API queries. </a:t>
            </a:r>
          </a:p>
          <a:p>
            <a:r>
              <a:rPr lang="en-US" sz="4000" b="1">
                <a:ea typeface="+mn-lt"/>
                <a:cs typeface="+mn-lt"/>
              </a:rPr>
              <a:t>Input and Output Validation: </a:t>
            </a:r>
            <a:r>
              <a:rPr lang="en-US" sz="4000">
                <a:ea typeface="+mn-lt"/>
                <a:cs typeface="+mn-lt"/>
              </a:rPr>
              <a:t>Iterative prototyping and testing to ensure accurate outputs.</a:t>
            </a:r>
          </a:p>
          <a:p>
            <a:endParaRPr lang="en-US" sz="4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8720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_Text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9F6D8B2-D99C-4B6D-949F-2672C446428A}" vid="{807C2652-B5C7-4438-96D5-255828667251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845b7c-7398-49f6-be84-365b24d5cf1e" xsi:nil="true"/>
    <TaxCatchAll xmlns="63e71b78-e89c-4638-aa83-387ddd56115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73237C6E4FCD469523D69CB5899970" ma:contentTypeVersion="19" ma:contentTypeDescription="Create a new document." ma:contentTypeScope="" ma:versionID="15892a2152ea9336913af5f194ed55fb">
  <xsd:schema xmlns:xsd="http://www.w3.org/2001/XMLSchema" xmlns:xs="http://www.w3.org/2001/XMLSchema" xmlns:p="http://schemas.microsoft.com/office/2006/metadata/properties" xmlns:ns2="63e71b78-e89c-4638-aa83-387ddd56115b" xmlns:ns3="e3845b7c-7398-49f6-be84-365b24d5cf1e" targetNamespace="http://schemas.microsoft.com/office/2006/metadata/properties" ma:root="true" ma:fieldsID="f00a1dd25b4114774e7c155446408a9c" ns2:_="" ns3:_="">
    <xsd:import namespace="63e71b78-e89c-4638-aa83-387ddd56115b"/>
    <xsd:import namespace="e3845b7c-7398-49f6-be84-365b24d5cf1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e71b78-e89c-4638-aa83-387ddd56115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6922d6f-8f1e-47a2-922f-264af4b00409}" ma:internalName="TaxCatchAll" ma:showField="CatchAllData" ma:web="63e71b78-e89c-4638-aa83-387ddd56115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845b7c-7398-49f6-be84-365b24d5cf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displayName="Image Tags_0" ma:internalName="lcf76f155ced4ddcb4097134ff3c332f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43F8DA-2598-45CB-BEDC-A0AB16BEEDB7}">
  <ds:schemaRefs>
    <ds:schemaRef ds:uri="e3845b7c-7398-49f6-be84-365b24d5cf1e"/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63e71b78-e89c-4638-aa83-387ddd56115b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F55623E-2AF0-4386-91E1-1F5EE83BDC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D45112-85C2-49C3-9B90-BF5977453A27}">
  <ds:schemaRefs>
    <ds:schemaRef ds:uri="63e71b78-e89c-4638-aa83-387ddd56115b"/>
    <ds:schemaRef ds:uri="e3845b7c-7398-49f6-be84-365b24d5cf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expo-poster-templates-dark</Template>
  <TotalTime>0</TotalTime>
  <Words>307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Archivo Regular</vt:lpstr>
      <vt:lpstr>Arial</vt:lpstr>
      <vt:lpstr>Calibri</vt:lpstr>
      <vt:lpstr>Franklin Gothic Book</vt:lpstr>
      <vt:lpstr>Franklin Gothic Demi</vt:lpstr>
      <vt:lpstr>Wingdings</vt:lpstr>
      <vt:lpstr>2_Text Slides</vt:lpstr>
      <vt:lpstr>LLM-Driven Smart Agents for User-Friendly Access to an Open Data Portal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Turner, Alexiss (alexisst@uidaho.edu)</dc:creator>
  <cp:lastModifiedBy>Shrestha, Safal (shre4420@vandals.uidaho.edu)</cp:lastModifiedBy>
  <cp:revision>2</cp:revision>
  <dcterms:created xsi:type="dcterms:W3CDTF">2022-04-06T19:18:52Z</dcterms:created>
  <dcterms:modified xsi:type="dcterms:W3CDTF">2026-05-01T07:07:02Z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0x010100CB73237C6E4FCD469523D69CB5899970</vt:lpwstr>
  </property>
</Properties>
</file>