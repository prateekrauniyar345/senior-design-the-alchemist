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1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36576000" cy="26517600"/>
  <p:notesSz cx="6858000" cy="9144000"/>
  <p:defaultTextStyle>
    <a:defPPr>
      <a:defRPr lang="ru-RU"/>
    </a:defPPr>
    <a:lvl1pPr marL="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1pPr>
    <a:lvl2pPr marL="204700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2pPr>
    <a:lvl3pPr marL="409400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3pPr>
    <a:lvl4pPr marL="6141015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4pPr>
    <a:lvl5pPr marL="818801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5pPr>
    <a:lvl6pPr marL="1023502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C71A"/>
    <a:srgbClr val="E1E1E1"/>
    <a:srgbClr val="FFFFFF"/>
    <a:srgbClr val="649FFF"/>
    <a:srgbClr val="F2F2F2"/>
    <a:srgbClr val="FAFAFA"/>
    <a:srgbClr val="242529"/>
    <a:srgbClr val="D1D9E1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52" autoAdjust="0"/>
  </p:normalViewPr>
  <p:slideViewPr>
    <p:cSldViewPr>
      <p:cViewPr varScale="1">
        <p:scale>
          <a:sx n="33" d="100"/>
          <a:sy n="33" d="100"/>
        </p:scale>
        <p:origin x="1056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3008"/>
    </p:cViewPr>
  </p:sorterViewPr>
  <p:notesViewPr>
    <p:cSldViewPr>
      <p:cViewPr varScale="1">
        <p:scale>
          <a:sx n="101" d="100"/>
          <a:sy n="101" d="100"/>
        </p:scale>
        <p:origin x="353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06.04.2026</a:t>
            </a:fld>
            <a:endParaRPr lang="ru-RU" dirty="0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 dirty="0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06.04.2026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85800"/>
            <a:ext cx="47275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2047006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409400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6141015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818801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1023502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054558" y="7141016"/>
            <a:ext cx="23329968" cy="8032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22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43200" y="8575906"/>
            <a:ext cx="8335108" cy="7124836"/>
          </a:xfrm>
        </p:spPr>
        <p:txBody>
          <a:bodyPr/>
          <a:lstStyle>
            <a:lvl1pPr marL="0" marR="0" indent="0" algn="l" defTabSz="2357164" rtl="0" eaLnBrk="1" fontAlgn="auto" latinLnBrk="0" hangingPunct="1">
              <a:lnSpc>
                <a:spcPts val="5124"/>
              </a:lnSpc>
              <a:spcBef>
                <a:spcPts val="0"/>
              </a:spcBef>
              <a:spcAft>
                <a:spcPts val="2417"/>
              </a:spcAft>
              <a:buClrTx/>
              <a:buSzTx/>
              <a:buFont typeface="Arial" panose="020B0604020202020204" pitchFamily="34" charset="0"/>
              <a:buNone/>
              <a:tabLst/>
              <a:defRPr lang="en-US" sz="319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volorit</a:t>
            </a:r>
            <a:r>
              <a:rPr lang="en-US" dirty="0"/>
              <a:t> </a:t>
            </a:r>
            <a:r>
              <a:rPr lang="en-US" dirty="0" err="1"/>
              <a:t>iorem</a:t>
            </a:r>
            <a:r>
              <a:rPr lang="en-US" dirty="0"/>
              <a:t>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3200" y="16868141"/>
            <a:ext cx="10399432" cy="584584"/>
          </a:xfrm>
        </p:spPr>
        <p:txBody>
          <a:bodyPr/>
          <a:lstStyle>
            <a:lvl1pPr marL="441958" indent="-441958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9448800" y="0"/>
            <a:ext cx="24152372" cy="302006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90 PT FONT RECOMMENDED</a:t>
            </a:r>
          </a:p>
        </p:txBody>
      </p:sp>
    </p:spTree>
    <p:extLst>
      <p:ext uri="{BB962C8B-B14F-4D97-AF65-F5344CB8AC3E}">
        <p14:creationId xmlns:p14="http://schemas.microsoft.com/office/powerpoint/2010/main" val="428963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276600" y="11584821"/>
            <a:ext cx="31547128" cy="452474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9136" y="1"/>
            <a:ext cx="1679846" cy="3314699"/>
          </a:xfrm>
          <a:prstGeom prst="rect">
            <a:avLst/>
          </a:prstGeom>
        </p:spPr>
      </p:pic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1AADB5F8-AFCA-E143-C745-30872EA7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1" y="294639"/>
            <a:ext cx="26246449" cy="302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8D7B6A-C0F7-6924-9A74-F0A96DDCA6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55722" y="23174458"/>
            <a:ext cx="5448297" cy="1432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F1C71E-16B3-A228-15B8-22A7C76AD21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762000"/>
            <a:ext cx="9550614" cy="3020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A69937-1616-0D4C-01AD-8C0724F171C3}"/>
              </a:ext>
            </a:extLst>
          </p:cNvPr>
          <p:cNvSpPr txBox="1"/>
          <p:nvPr userDrawn="1"/>
        </p:nvSpPr>
        <p:spPr>
          <a:xfrm>
            <a:off x="28807904" y="24841200"/>
            <a:ext cx="77439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20" b="1" dirty="0">
                <a:solidFill>
                  <a:srgbClr val="FBC71A"/>
                </a:solidFill>
                <a:latin typeface="+mn-lt"/>
              </a:rPr>
              <a:t>2026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423000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ctr" defTabSz="2357164" rtl="0" eaLnBrk="1" latinLnBrk="0" hangingPunct="1">
        <a:lnSpc>
          <a:spcPts val="9184"/>
        </a:lnSpc>
        <a:spcBef>
          <a:spcPct val="0"/>
        </a:spcBef>
        <a:buNone/>
        <a:defRPr sz="8700" b="1" i="0" kern="1200" cap="all" baseline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41958" indent="-441958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883914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14261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033001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563350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482194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6pPr>
      <a:lvl7pPr marL="7660778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7pPr>
      <a:lvl8pPr marL="8839359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8pPr>
      <a:lvl9pPr marL="10017939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1pPr>
      <a:lvl2pPr marL="1178581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2357164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3pPr>
      <a:lvl4pPr marL="3535742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4pPr>
      <a:lvl5pPr marL="4714325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5pPr>
      <a:lvl6pPr marL="5892906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6pPr>
      <a:lvl7pPr marL="7071487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7pPr>
      <a:lvl8pPr marL="8250067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8pPr>
      <a:lvl9pPr marL="9428649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lchemist_workflow.png"/>
  <Relationship Id="rId3" Type="http://schemas.openxmlformats.org/officeDocument/2006/relationships/image" Target="../media/alchemist_architecture.png"/>
  <Relationship Id="rId4" Type="http://schemas.openxmlformats.org/officeDocument/2006/relationships/image" Target="../media/alchemist_sequence.png"/>
  <Relationship Id="rId5" Type="http://schemas.openxmlformats.org/officeDocument/2006/relationships/image" Target="../media/alchemist_mcp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oject title"/>
          <p:cNvSpPr txBox="1"/>
          <p:nvPr/>
        </p:nvSpPr>
        <p:spPr>
          <a:xfrm>
            <a:off x="9509760" y="777240"/>
            <a:ext cx="17556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Arial"/>
                <a:cs typeface="Arial"/>
              </a:rPr>
              <a:t>THE ALCHEMIST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498080" y="1600200"/>
            <a:ext cx="217627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ctr"/>
            <a:r>
              <a:rPr lang="en-US" sz="1650" dirty="0">
                <a:solidFill>
                  <a:srgbClr val="222222"/>
                </a:solidFill>
                <a:latin typeface="Arial"/>
                <a:cs typeface="Arial"/>
              </a:rPr>
              <a:t>LLM-driven smart agents for user-friendly access to Mindat mineral data</a:t>
            </a:r>
          </a:p>
        </p:txBody>
      </p:sp>
      <p:sp>
        <p:nvSpPr>
          <p:cNvPr id="103" name="Team line"/>
          <p:cNvSpPr txBox="1"/>
          <p:nvPr/>
        </p:nvSpPr>
        <p:spPr>
          <a:xfrm>
            <a:off x="8229600" y="2157984"/>
            <a:ext cx="2011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ctr"/>
            <a:r>
              <a:rPr lang="en-US" sz="1350" dirty="0">
                <a:solidFill>
                  <a:srgbClr val="333333"/>
                </a:solidFill>
                <a:latin typeface="Arial"/>
                <a:cs typeface="Arial"/>
              </a:rPr>
              <a:t>Team: Safal Sth, Prateek Rauniyar, and collaborators</a:t>
            </a:r>
          </a:p>
        </p:txBody>
      </p:sp>
      <p:sp>
        <p:nvSpPr>
          <p:cNvPr id="104" name="Objective box"/>
          <p:cNvSpPr/>
          <p:nvPr/>
        </p:nvSpPr>
        <p:spPr>
          <a:xfrm>
            <a:off x="731520" y="3749040"/>
            <a:ext cx="10972800" cy="329184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05" name="Objective heading"/>
          <p:cNvSpPr txBox="1"/>
          <p:nvPr/>
        </p:nvSpPr>
        <p:spPr>
          <a:xfrm>
            <a:off x="868680" y="385876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Objective</a:t>
            </a:r>
          </a:p>
        </p:txBody>
      </p:sp>
      <p:sp>
        <p:nvSpPr>
          <p:cNvPr id="106" name="Objective body"/>
          <p:cNvSpPr txBox="1"/>
          <p:nvPr/>
        </p:nvSpPr>
        <p:spPr>
          <a:xfrm>
            <a:off x="960120" y="4526280"/>
            <a:ext cx="10515600" cy="2331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350" dirty="0">
                <a:solidFill>
                  <a:srgbClr val="111111"/>
                </a:solidFill>
                <a:latin typeface="Arial"/>
                <a:cs typeface="Arial"/>
              </a:rPr>
              <a:t>- Make open mineral data usable through natural language.</a:t>
            </a:r>
          </a:p>
          <a:p>
            <a:pPr algn="l"/>
            <a:r>
              <a:rPr lang="en-US" sz="1350" dirty="0">
                <a:solidFill>
                  <a:srgbClr val="111111"/>
                </a:solidFill>
                <a:latin typeface="Arial"/>
                <a:cs typeface="Arial"/>
              </a:rPr>
              <a:t>- Reduce the need to know Mindat API parameters before exploring data.</a:t>
            </a:r>
          </a:p>
          <a:p>
            <a:pPr algn="l"/>
            <a:r>
              <a:rPr lang="en-US" sz="1350" dirty="0">
                <a:solidFill>
                  <a:srgbClr val="111111"/>
                </a:solidFill>
                <a:latin typeface="Arial"/>
                <a:cs typeface="Arial"/>
              </a:rPr>
              <a:t>- Return data tables and visualizations that support fast geological insight.</a:t>
            </a:r>
          </a:p>
        </p:txBody>
      </p:sp>
      <p:sp>
        <p:nvSpPr>
          <p:cNvPr id="107" name="Background and Value Proposition box"/>
          <p:cNvSpPr/>
          <p:nvPr/>
        </p:nvSpPr>
        <p:spPr>
          <a:xfrm>
            <a:off x="731520" y="7452360"/>
            <a:ext cx="10972800" cy="969264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08" name="Background and Value Proposition heading"/>
          <p:cNvSpPr txBox="1"/>
          <p:nvPr/>
        </p:nvSpPr>
        <p:spPr>
          <a:xfrm>
            <a:off x="868680" y="756208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Background and Value Proposition</a:t>
            </a:r>
          </a:p>
        </p:txBody>
      </p:sp>
      <p:sp>
        <p:nvSpPr>
          <p:cNvPr id="109" name="Background and Value Proposition body"/>
          <p:cNvSpPr txBox="1"/>
          <p:nvPr/>
        </p:nvSpPr>
        <p:spPr>
          <a:xfrm>
            <a:off x="960120" y="8229600"/>
            <a:ext cx="10515600" cy="8732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300" dirty="0">
                <a:solidFill>
                  <a:srgbClr val="111111"/>
                </a:solidFill>
                <a:latin typeface="Arial"/>
                <a:cs typeface="Arial"/>
              </a:rPr>
              <a:t>- Mindat is a rich public mineral database, but API exploration can be difficult for non-developers.</a:t>
            </a:r>
          </a:p>
          <a:p>
            <a:pPr algn="l"/>
            <a:r>
              <a:rPr lang="en-US" sz="1300" dirty="0">
                <a:solidFill>
                  <a:srgbClr val="111111"/>
                </a:solidFill>
                <a:latin typeface="Arial"/>
                <a:cs typeface="Arial"/>
              </a:rPr>
              <a:t>- The Alchemist provides a conversational layer over Mindat queries, filters, and visualization workflows.</a:t>
            </a:r>
          </a:p>
          <a:p>
            <a:pPr algn="l"/>
            <a:r>
              <a:rPr lang="en-US" sz="1300" dirty="0">
                <a:solidFill>
                  <a:srgbClr val="111111"/>
                </a:solidFill>
                <a:latin typeface="Arial"/>
                <a:cs typeface="Arial"/>
              </a:rPr>
              <a:t>- Multi-agent routing chooses when to collect geomaterial data, collect locality data, or generate charts.</a:t>
            </a:r>
          </a:p>
          <a:p>
            <a:pPr algn="l"/>
            <a:r>
              <a:rPr lang="en-US" sz="1300" dirty="0">
                <a:solidFill>
                  <a:srgbClr val="111111"/>
                </a:solidFill>
                <a:latin typeface="Arial"/>
                <a:cs typeface="Arial"/>
              </a:rPr>
              <a:t>- Users can ask questions such as hardness histograms, locality heatmaps, and mineral co-occurrence networks.</a:t>
            </a:r>
          </a:p>
          <a:p>
            <a:pPr algn="l"/>
            <a:r>
              <a:rPr lang="en-US" sz="1300" dirty="0">
                <a:solidFill>
                  <a:srgbClr val="111111"/>
                </a:solidFill>
                <a:latin typeface="Arial"/>
                <a:cs typeface="Arial"/>
              </a:rPr>
              <a:t>- Value: faster access, fewer query-format errors, reusable outputs, and a clearer path from question to evidence.</a:t>
            </a:r>
          </a:p>
        </p:txBody>
      </p:sp>
      <p:sp>
        <p:nvSpPr>
          <p:cNvPr id="110" name="Key Requirements box"/>
          <p:cNvSpPr/>
          <p:nvPr/>
        </p:nvSpPr>
        <p:spPr>
          <a:xfrm>
            <a:off x="731520" y="17693640"/>
            <a:ext cx="10972800" cy="690372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11" name="Key Requirements heading"/>
          <p:cNvSpPr txBox="1"/>
          <p:nvPr/>
        </p:nvSpPr>
        <p:spPr>
          <a:xfrm>
            <a:off x="868680" y="1780336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Key Requirements</a:t>
            </a:r>
          </a:p>
        </p:txBody>
      </p:sp>
      <p:sp>
        <p:nvSpPr>
          <p:cNvPr id="112" name="Key Requirements body"/>
          <p:cNvSpPr txBox="1"/>
          <p:nvPr/>
        </p:nvSpPr>
        <p:spPr>
          <a:xfrm>
            <a:off x="960120" y="18470880"/>
            <a:ext cx="10515600" cy="594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320" dirty="0">
                <a:solidFill>
                  <a:srgbClr val="111111"/>
                </a:solidFill>
                <a:latin typeface="Arial"/>
                <a:cs typeface="Arial"/>
              </a:rPr>
              <a:t>- Natural-language chat interface for Mindat-related tasks.</a:t>
            </a:r>
          </a:p>
          <a:p>
            <a:pPr algn="l"/>
            <a:r>
              <a:rPr lang="en-US" sz="1320" dirty="0">
                <a:solidFill>
                  <a:srgbClr val="111111"/>
                </a:solidFill>
                <a:latin typeface="Arial"/>
                <a:cs typeface="Arial"/>
              </a:rPr>
              <a:t>- Input validation for malicious, off-topic, and invalid parameter requests.</a:t>
            </a:r>
          </a:p>
          <a:p>
            <a:pPr algn="l"/>
            <a:r>
              <a:rPr lang="en-US" sz="1320" dirty="0">
                <a:solidFill>
                  <a:srgbClr val="111111"/>
                </a:solidFill>
                <a:latin typeface="Arial"/>
                <a:cs typeface="Arial"/>
              </a:rPr>
              <a:t>- Secure backend API with session-based chat history.</a:t>
            </a:r>
          </a:p>
          <a:p>
            <a:pPr algn="l"/>
            <a:r>
              <a:rPr lang="en-US" sz="1320" dirty="0">
                <a:solidFill>
                  <a:srgbClr val="111111"/>
                </a:solidFill>
                <a:latin typeface="Arial"/>
                <a:cs typeface="Arial"/>
              </a:rPr>
              <a:t>- Agent workflow for geomaterial, locality, and Vega-Lite chart generation.</a:t>
            </a:r>
          </a:p>
          <a:p>
            <a:pPr algn="l"/>
            <a:r>
              <a:rPr lang="en-US" sz="1320" dirty="0">
                <a:solidFill>
                  <a:srgbClr val="111111"/>
                </a:solidFill>
                <a:latin typeface="Arial"/>
                <a:cs typeface="Arial"/>
              </a:rPr>
              <a:t>- Deployment-ready frontend/backend with documented Vercel and Render setup.</a:t>
            </a:r>
          </a:p>
        </p:txBody>
      </p:sp>
      <p:sp>
        <p:nvSpPr>
          <p:cNvPr id="113" name="Concept Development box"/>
          <p:cNvSpPr/>
          <p:nvPr/>
        </p:nvSpPr>
        <p:spPr>
          <a:xfrm>
            <a:off x="12390120" y="3749040"/>
            <a:ext cx="11155680" cy="603504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14" name="Concept Development heading"/>
          <p:cNvSpPr txBox="1"/>
          <p:nvPr/>
        </p:nvSpPr>
        <p:spPr>
          <a:xfrm>
            <a:off x="12527280" y="385876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Concept Development</a:t>
            </a:r>
          </a:p>
        </p:txBody>
      </p:sp>
      <p:sp>
        <p:nvSpPr>
          <p:cNvPr id="115" name="Concept Development body"/>
          <p:cNvSpPr txBox="1"/>
          <p:nvPr/>
        </p:nvSpPr>
        <p:spPr>
          <a:xfrm>
            <a:off x="12618720" y="4526280"/>
            <a:ext cx="10698480" cy="5074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270" dirty="0">
                <a:solidFill>
                  <a:srgbClr val="111111"/>
                </a:solidFill>
                <a:latin typeface="Arial"/>
                <a:cs typeface="Arial"/>
              </a:rPr>
              <a:t>- Early prototypes explored direct API calls, hardcoded visualizations, and single-agent prompting.</a:t>
            </a:r>
          </a:p>
          <a:p>
            <a:pPr algn="l"/>
            <a:r>
              <a:rPr lang="en-US" sz="1270" dirty="0">
                <a:solidFill>
                  <a:srgbClr val="111111"/>
                </a:solidFill>
                <a:latin typeface="Arial"/>
                <a:cs typeface="Arial"/>
              </a:rPr>
              <a:t>- The selected concept uses a LangGraph supervisor to route requests to specialized agents.</a:t>
            </a:r>
          </a:p>
          <a:p>
            <a:pPr algn="l"/>
            <a:r>
              <a:rPr lang="en-US" sz="1270" dirty="0">
                <a:solidFill>
                  <a:srgbClr val="111111"/>
                </a:solidFill>
                <a:latin typeface="Arial"/>
                <a:cs typeface="Arial"/>
              </a:rPr>
              <a:t>- Validation is kept before the LLM workflow so unsafe input never reaches tool execution.</a:t>
            </a:r>
          </a:p>
        </p:txBody>
      </p:sp>
      <p:pic>
        <p:nvPicPr>
          <p:cNvPr id="116" name="Workflow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20" y="6949440"/>
            <a:ext cx="4937760" cy="2560320"/>
          </a:xfrm>
          <a:prstGeom prst="rect">
            <a:avLst/>
          </a:prstGeom>
        </p:spPr>
      </p:pic>
      <p:sp>
        <p:nvSpPr>
          <p:cNvPr id="117" name="The Final Design box"/>
          <p:cNvSpPr/>
          <p:nvPr/>
        </p:nvSpPr>
        <p:spPr>
          <a:xfrm>
            <a:off x="12390120" y="10195560"/>
            <a:ext cx="11155680" cy="1440180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18" name="The Final Design heading"/>
          <p:cNvSpPr txBox="1"/>
          <p:nvPr/>
        </p:nvSpPr>
        <p:spPr>
          <a:xfrm>
            <a:off x="12527280" y="1030528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The Final Design</a:t>
            </a:r>
          </a:p>
        </p:txBody>
      </p:sp>
      <p:sp>
        <p:nvSpPr>
          <p:cNvPr id="119" name="The Final Design body"/>
          <p:cNvSpPr txBox="1"/>
          <p:nvPr/>
        </p:nvSpPr>
        <p:spPr>
          <a:xfrm>
            <a:off x="12618720" y="10972800"/>
            <a:ext cx="10698480" cy="13441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220" dirty="0">
                <a:solidFill>
                  <a:srgbClr val="111111"/>
                </a:solidFill>
                <a:latin typeface="Arial"/>
                <a:cs typeface="Arial"/>
              </a:rPr>
              <a:t>- React frontend sends chat requests and renders returned tables, plots, and Vega-Lite charts.</a:t>
            </a:r>
          </a:p>
          <a:p>
            <a:pPr algn="l"/>
            <a:r>
              <a:rPr lang="en-US" sz="1220" dirty="0">
                <a:solidFill>
                  <a:srgbClr val="111111"/>
                </a:solidFill>
                <a:latin typeface="Arial"/>
                <a:cs typeface="Arial"/>
              </a:rPr>
              <a:t>- FastAPI backend validates input, stores chat history, and invokes the LangGraph agent workflow.</a:t>
            </a:r>
          </a:p>
          <a:p>
            <a:pPr algn="l"/>
            <a:r>
              <a:rPr lang="en-US" sz="1220" dirty="0">
                <a:solidFill>
                  <a:srgbClr val="111111"/>
                </a:solidFill>
                <a:latin typeface="Arial"/>
                <a:cs typeface="Arial"/>
              </a:rPr>
              <a:t>- Collector agents call Mindat-oriented tools; visualization agents generate chart specifications.</a:t>
            </a:r>
          </a:p>
          <a:p>
            <a:pPr algn="l"/>
            <a:r>
              <a:rPr lang="en-US" sz="1220" dirty="0">
                <a:solidFill>
                  <a:srgbClr val="111111"/>
                </a:solidFill>
                <a:latin typeface="Arial"/>
                <a:cs typeface="Arial"/>
              </a:rPr>
              <a:t>- Recent improvement: validation failures now receive LLM-written explanations that redirect users toward Mindat tasks.</a:t>
            </a:r>
          </a:p>
        </p:txBody>
      </p:sp>
      <p:pic>
        <p:nvPicPr>
          <p:cNvPr id="120" name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0" y="14447520"/>
            <a:ext cx="4754880" cy="6858000"/>
          </a:xfrm>
          <a:prstGeom prst="rect">
            <a:avLst/>
          </a:prstGeom>
        </p:spPr>
      </p:pic>
      <p:pic>
        <p:nvPicPr>
          <p:cNvPr id="121" name="Sequenc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0" y="14447520"/>
            <a:ext cx="4754880" cy="6858000"/>
          </a:xfrm>
          <a:prstGeom prst="rect">
            <a:avLst/>
          </a:prstGeom>
        </p:spPr>
      </p:pic>
      <p:sp>
        <p:nvSpPr>
          <p:cNvPr id="122" name="Final design caption"/>
          <p:cNvSpPr txBox="1"/>
          <p:nvPr/>
        </p:nvSpPr>
        <p:spPr>
          <a:xfrm>
            <a:off x="12984480" y="215341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050" dirty="0">
                <a:solidFill>
                  <a:srgbClr val="333333"/>
                </a:solidFill>
                <a:latin typeface="Arial"/>
                <a:cs typeface="Arial"/>
              </a:rPr>
              <a:t>Architecture and sequence views show the chat request path from frontend to validation, agent routing, Mindat tools, and returned visual output.</a:t>
            </a:r>
          </a:p>
        </p:txBody>
      </p:sp>
      <p:sp>
        <p:nvSpPr>
          <p:cNvPr id="123" name="Validation box"/>
          <p:cNvSpPr/>
          <p:nvPr/>
        </p:nvSpPr>
        <p:spPr>
          <a:xfrm>
            <a:off x="24231600" y="3749040"/>
            <a:ext cx="11155680" cy="1220724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24" name="Validation heading"/>
          <p:cNvSpPr txBox="1"/>
          <p:nvPr/>
        </p:nvSpPr>
        <p:spPr>
          <a:xfrm>
            <a:off x="24368760" y="385876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Validation</a:t>
            </a:r>
          </a:p>
        </p:txBody>
      </p:sp>
      <p:sp>
        <p:nvSpPr>
          <p:cNvPr id="125" name="Validation body"/>
          <p:cNvSpPr txBox="1"/>
          <p:nvPr/>
        </p:nvSpPr>
        <p:spPr>
          <a:xfrm>
            <a:off x="24460200" y="4526280"/>
            <a:ext cx="10698480" cy="112471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Tested representative demo prompts across histogram, heatmap, and network categories.</a:t>
            </a:r>
          </a:p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Verified hardness filters accept Mohs values from 0-10 while ignoring unrelated years such as discovered before 1990.</a:t>
            </a:r>
          </a:p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Verified malicious/system-prompt requests are blocked before agent execution.</a:t>
            </a:r>
          </a:p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Verified conversational greetings route to the general agent instead of being rejected as off-topic.</a:t>
            </a:r>
          </a:p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Build checks: backend Python compile checks for validation/router modules and frontend Vite build when dependencies are available.</a:t>
            </a:r>
          </a:p>
        </p:txBody>
      </p:sp>
      <p:pic>
        <p:nvPicPr>
          <p:cNvPr id="126" name="MCP integration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0" y="10378440"/>
            <a:ext cx="6583680" cy="3840480"/>
          </a:xfrm>
          <a:prstGeom prst="rect">
            <a:avLst/>
          </a:prstGeom>
        </p:spPr>
      </p:pic>
      <p:sp>
        <p:nvSpPr>
          <p:cNvPr id="127" name="Summary, Conclusions, and Recommendations box"/>
          <p:cNvSpPr/>
          <p:nvPr/>
        </p:nvSpPr>
        <p:spPr>
          <a:xfrm>
            <a:off x="24231600" y="16367760"/>
            <a:ext cx="11155680" cy="498348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28" name="Summary, Conclusions, and Recommendations heading"/>
          <p:cNvSpPr txBox="1"/>
          <p:nvPr/>
        </p:nvSpPr>
        <p:spPr>
          <a:xfrm>
            <a:off x="24368760" y="1647748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Summary, Conclusions, and Recommendations</a:t>
            </a:r>
          </a:p>
        </p:txBody>
      </p:sp>
      <p:sp>
        <p:nvSpPr>
          <p:cNvPr id="129" name="Summary, Conclusions, and Recommendations body"/>
          <p:cNvSpPr txBox="1"/>
          <p:nvPr/>
        </p:nvSpPr>
        <p:spPr>
          <a:xfrm>
            <a:off x="24460200" y="17145000"/>
            <a:ext cx="1069848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The Alchemist demonstrates a practical AI layer for exploring open mineral data.</a:t>
            </a:r>
          </a:p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Pre-agent validation improves safety while LLM-guided feedback keeps responses useful.</a:t>
            </a:r>
          </a:p>
          <a:p>
            <a:pPr algn="l"/>
            <a:r>
              <a:rPr lang="en-US" sz="1260" dirty="0">
                <a:solidFill>
                  <a:srgbClr val="111111"/>
                </a:solidFill>
                <a:latin typeface="Arial"/>
                <a:cs typeface="Arial"/>
              </a:rPr>
              <a:t>- Next steps: broaden evaluation prompts, add richer chart comparisons, and improve deployed observability.</a:t>
            </a:r>
          </a:p>
        </p:txBody>
      </p:sp>
      <p:sp>
        <p:nvSpPr>
          <p:cNvPr id="130" name="Acknowledgements box"/>
          <p:cNvSpPr/>
          <p:nvPr/>
        </p:nvSpPr>
        <p:spPr>
          <a:xfrm>
            <a:off x="24231600" y="21899880"/>
            <a:ext cx="11155680" cy="2697480"/>
          </a:xfrm>
          <a:prstGeom prst="rect">
            <a:avLst/>
          </a:prstGeom>
          <a:noFill/>
          <a:ln w="12700">
            <a:solidFill>
              <a:srgbClr val="8C8C8C"/>
            </a:solidFill>
          </a:ln>
        </p:spPr>
        <p:txBody>
          <a:bodyPr/>
          <a:lstStyle/>
          <a:p/>
        </p:txBody>
      </p:sp>
      <p:sp>
        <p:nvSpPr>
          <p:cNvPr id="131" name="Acknowledgements heading"/>
          <p:cNvSpPr txBox="1"/>
          <p:nvPr/>
        </p:nvSpPr>
        <p:spPr>
          <a:xfrm>
            <a:off x="24368760" y="22009608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Acknowledgements</a:t>
            </a:r>
          </a:p>
        </p:txBody>
      </p:sp>
      <p:sp>
        <p:nvSpPr>
          <p:cNvPr id="132" name="Acknowledgements body"/>
          <p:cNvSpPr txBox="1"/>
          <p:nvPr/>
        </p:nvSpPr>
        <p:spPr>
          <a:xfrm>
            <a:off x="24460200" y="2267712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>
            <a:normAutofit/>
          </a:bodyPr>
          <a:lstStyle/>
          <a:p>
            <a:pPr algn="l"/>
            <a:r>
              <a:rPr lang="en-US" sz="1180" dirty="0">
                <a:solidFill>
                  <a:srgbClr val="111111"/>
                </a:solidFill>
                <a:latin typeface="Arial"/>
                <a:cs typeface="Arial"/>
              </a:rPr>
              <a:t>University of Idaho College of Engineering, EXPO 2026 reviewers, project advisors, Mindat.org, and open-source contributors to FastAPI, React, LangChain, LangGraph, and Vega-Lite.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9F6D8B2-D99C-4B6D-949F-2672C446428A}" vid="{807C2652-B5C7-4438-96D5-255828667251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73237C6E4FCD469523D69CB5899970" ma:contentTypeVersion="19" ma:contentTypeDescription="Create a new document." ma:contentTypeScope="" ma:versionID="15892a2152ea9336913af5f194ed55fb">
  <xsd:schema xmlns:xsd="http://www.w3.org/2001/XMLSchema" xmlns:xs="http://www.w3.org/2001/XMLSchema" xmlns:p="http://schemas.microsoft.com/office/2006/metadata/properties" xmlns:ns2="63e71b78-e89c-4638-aa83-387ddd56115b" xmlns:ns3="e3845b7c-7398-49f6-be84-365b24d5cf1e" targetNamespace="http://schemas.microsoft.com/office/2006/metadata/properties" ma:root="true" ma:fieldsID="f00a1dd25b4114774e7c155446408a9c" ns2:_="" ns3:_="">
    <xsd:import namespace="63e71b78-e89c-4638-aa83-387ddd56115b"/>
    <xsd:import namespace="e3845b7c-7398-49f6-be84-365b24d5cf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71b78-e89c-4638-aa83-387ddd5611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6922d6f-8f1e-47a2-922f-264af4b00409}" ma:internalName="TaxCatchAll" ma:showField="CatchAllData" ma:web="63e71b78-e89c-4638-aa83-387ddd5611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45b7c-7398-49f6-be84-365b24d5c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displayName="Image Tags_0" ma:internalName="lcf76f155ced4ddcb4097134ff3c332f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845b7c-7398-49f6-be84-365b24d5cf1e" xsi:nil="true"/>
    <TaxCatchAll xmlns="63e71b78-e89c-4638-aa83-387ddd56115b" xsi:nil="true"/>
  </documentManagement>
</p:properties>
</file>

<file path=customXml/itemProps1.xml><?xml version="1.0" encoding="utf-8"?>
<ds:datastoreItem xmlns:ds="http://schemas.openxmlformats.org/officeDocument/2006/customXml" ds:itemID="{72D45112-85C2-49C3-9B90-BF5977453A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e71b78-e89c-4638-aa83-387ddd56115b"/>
    <ds:schemaRef ds:uri="e3845b7c-7398-49f6-be84-365b24d5cf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55623E-2AF0-4386-91E1-1F5EE83BDC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43F8DA-2598-45CB-BEDC-A0AB16BEEDB7}">
  <ds:schemaRefs>
    <ds:schemaRef ds:uri="http://schemas.microsoft.com/office/2006/metadata/properties"/>
    <ds:schemaRef ds:uri="http://schemas.microsoft.com/office/infopath/2007/PartnerControls"/>
    <ds:schemaRef ds:uri="e3845b7c-7398-49f6-be84-365b24d5cf1e"/>
    <ds:schemaRef ds:uri="63e71b78-e89c-4638-aa83-387ddd5611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expo-poster-templates-dark</Template>
  <TotalTime>40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Archivo Regular</vt:lpstr>
      <vt:lpstr>Arial</vt:lpstr>
      <vt:lpstr>Calibri</vt:lpstr>
      <vt:lpstr>Franklin Gothic Book</vt:lpstr>
      <vt:lpstr>Franklin Gothic Demi</vt:lpstr>
      <vt:lpstr>Wingdings</vt:lpstr>
      <vt:lpstr>2_Text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Turner, Alexiss (alexisst@uidaho.edu)</dc:creator>
  <cp:lastModifiedBy>Turner, Alexiss (alexisst@uidaho.edu)</cp:lastModifiedBy>
  <cp:revision>9</cp:revision>
  <dcterms:created xsi:type="dcterms:W3CDTF">2022-04-06T19:18:52Z</dcterms:created>
  <dcterms:modified xsi:type="dcterms:W3CDTF">2026-04-07T00:34:23Z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0x010100CB73237C6E4FCD469523D69CB5899970</vt:lpwstr>
  </property>
</Properties>
</file>